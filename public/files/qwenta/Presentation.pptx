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8" r:id="rId10"/>
    <p:sldId id="263" r:id="rId11"/>
    <p:sldId id="267" r:id="rId12"/>
    <p:sldId id="264" r:id="rId13"/>
    <p:sldId id="265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11EF6-2EB6-4CB8-B2D1-25037B37EBBC}" v="2258" dt="2025-10-06T19:16:05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601cdab4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601cdab4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c4033f8d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0c4033f8d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0c4033f8d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0c4033f8d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c4033f8d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0c4033f8d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2908852-9D9F-F031-79D2-90541FB0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c4033f8d1_0_22:notes">
            <a:extLst>
              <a:ext uri="{FF2B5EF4-FFF2-40B4-BE49-F238E27FC236}">
                <a16:creationId xmlns:a16="http://schemas.microsoft.com/office/drawing/2014/main" id="{705D9C60-8CFC-9E3E-1612-5F355D24D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0c4033f8d1_0_22:notes">
            <a:extLst>
              <a:ext uri="{FF2B5EF4-FFF2-40B4-BE49-F238E27FC236}">
                <a16:creationId xmlns:a16="http://schemas.microsoft.com/office/drawing/2014/main" id="{EEE6BF1D-E0E0-B34D-44D9-40C85F0D2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0594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cd7bb48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cd7bb48e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0c4033f8d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0c4033f8d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B6A8AE7-F824-DE8F-6C8D-D1CD8D93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0c4033f8d1_0_34:notes">
            <a:extLst>
              <a:ext uri="{FF2B5EF4-FFF2-40B4-BE49-F238E27FC236}">
                <a16:creationId xmlns:a16="http://schemas.microsoft.com/office/drawing/2014/main" id="{226F6DB1-7FC8-947F-E5AE-B31B2209B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0c4033f8d1_0_34:notes">
            <a:extLst>
              <a:ext uri="{FF2B5EF4-FFF2-40B4-BE49-F238E27FC236}">
                <a16:creationId xmlns:a16="http://schemas.microsoft.com/office/drawing/2014/main" id="{6A7E3FEF-0B5D-F90B-6C21-5211D14B9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89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8b606cc07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18b606cc07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11DCCFF3-8FCB-AC27-5366-005D94B8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8b606cc07_1_8:notes">
            <a:extLst>
              <a:ext uri="{FF2B5EF4-FFF2-40B4-BE49-F238E27FC236}">
                <a16:creationId xmlns:a16="http://schemas.microsoft.com/office/drawing/2014/main" id="{4FB63415-7FEC-4C81-F211-E7362BD69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18b606cc07_1_8:notes">
            <a:extLst>
              <a:ext uri="{FF2B5EF4-FFF2-40B4-BE49-F238E27FC236}">
                <a16:creationId xmlns:a16="http://schemas.microsoft.com/office/drawing/2014/main" id="{57562B53-D7A1-3B9E-F4B1-B174156F01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3698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2bf8da8b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2bf8da8b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2bf8da8b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2bf8da8b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file/Q6NEUPqwz1U3HFaCaVoF7N/Desktop?node-id=0%3A6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27f90a03b5b0801485b1cc47510a770b?v=27f90a03b5b08098b74b000c49ef16f7&amp;source=copy_lin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MZENR3KkweLE9pXT8TbILx6mG8GZUGvLbrTfxWGx4cI/edit?usp=shar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MZENR3KkweLE9pXT8TbILx6mG8GZUGvLbrTfxWGx4cI/edit?usp=sha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openai.com/news/" TargetMode="External"/><Relationship Id="rId5" Type="http://schemas.openxmlformats.org/officeDocument/2006/relationships/hyperlink" Target="https://owasp.blogspot.com/" TargetMode="External"/><Relationship Id="rId4" Type="http://schemas.openxmlformats.org/officeDocument/2006/relationships/hyperlink" Target="https://docs.google.com/document/d/1HqYyA4NzA2aFOKZRQHmmaYqunzi571McBV8SN2FjZio/edit?usp=shari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92800" y="1537500"/>
            <a:ext cx="42222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PRÉSENTATION</a:t>
            </a:r>
            <a:br>
              <a:rPr lang="fr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fr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3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Menu Maker by Qwenta</a:t>
            </a:r>
            <a:endParaRPr sz="3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5175" y="118275"/>
            <a:ext cx="23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sz="1500" dirty="0">
                <a:solidFill>
                  <a:schemeClr val="dk1"/>
                </a:solidFill>
                <a:latin typeface="Montserrat"/>
                <a:sym typeface="Montserrat"/>
              </a:rPr>
              <a:t>LAURENT Baptiste</a:t>
            </a:r>
          </a:p>
          <a:p>
            <a:r>
              <a:rPr lang="fr" sz="1500" dirty="0">
                <a:solidFill>
                  <a:schemeClr val="dk1"/>
                </a:solidFill>
                <a:latin typeface="Montserrat"/>
              </a:rPr>
              <a:t>02/10/2025</a:t>
            </a: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0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Aperçu de la maquette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Méthodologie utilisée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Tableau Kanban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 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Questions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  <a:endParaRPr sz="3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34775" y="1085525"/>
            <a:ext cx="8320500" cy="297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dk1"/>
              </a:buClr>
              <a:buSzPts val="1500"/>
              <a:buFont typeface="Arial"/>
              <a:buChar char="•"/>
            </a:pPr>
            <a:r>
              <a:rPr lang="fr" sz="1500" dirty="0">
                <a:solidFill>
                  <a:schemeClr val="dk1"/>
                </a:solidFill>
                <a:latin typeface="Montserrat"/>
                <a:sym typeface="Montserrat"/>
              </a:rPr>
              <a:t>Client : </a:t>
            </a:r>
            <a:r>
              <a:rPr lang="fr" sz="1500" dirty="0" err="1">
                <a:solidFill>
                  <a:schemeClr val="dk1"/>
                </a:solidFill>
                <a:latin typeface="Montserrat"/>
                <a:sym typeface="Montserrat"/>
              </a:rPr>
              <a:t>Qwenta</a:t>
            </a:r>
            <a:endParaRPr lang="fr" sz="1500" dirty="0">
              <a:solidFill>
                <a:schemeClr val="dk1"/>
              </a:solidFill>
              <a:latin typeface="Montserrat"/>
            </a:endParaRPr>
          </a:p>
          <a:p>
            <a:pPr>
              <a:buClr>
                <a:schemeClr val="dk1"/>
              </a:buClr>
              <a:buSzPts val="1500"/>
            </a:pPr>
            <a:endParaRPr lang="fr" sz="1500" dirty="0">
              <a:solidFill>
                <a:schemeClr val="dk1"/>
              </a:solidFill>
              <a:latin typeface="Montserrat"/>
            </a:endParaRPr>
          </a:p>
          <a:p>
            <a:pPr marL="285750" indent="-285750">
              <a:buClr>
                <a:schemeClr val="dk1"/>
              </a:buClr>
              <a:buSzPts val="1500"/>
              <a:buFont typeface="Arial"/>
              <a:buChar char="•"/>
            </a:pPr>
            <a:r>
              <a:rPr lang="fr" sz="1500" dirty="0">
                <a:solidFill>
                  <a:schemeClr val="dk1"/>
                </a:solidFill>
                <a:latin typeface="Montserrat"/>
                <a:sym typeface="Montserrat"/>
              </a:rPr>
              <a:t>Besoin : Créer une application web pour générer des menus professionnels rapidement.</a:t>
            </a:r>
            <a:endParaRPr lang="fr">
              <a:solidFill>
                <a:schemeClr val="dk1"/>
              </a:solidFill>
              <a:latin typeface="Montserrat"/>
            </a:endParaRPr>
          </a:p>
          <a:p>
            <a:pPr>
              <a:buClr>
                <a:schemeClr val="dk1"/>
              </a:buClr>
              <a:buSzPts val="1500"/>
            </a:pPr>
            <a:endParaRPr lang="fr" sz="1500" dirty="0">
              <a:solidFill>
                <a:schemeClr val="dk1"/>
              </a:solidFill>
              <a:latin typeface="Montserrat"/>
              <a:ea typeface="Montserrat"/>
            </a:endParaRPr>
          </a:p>
          <a:p>
            <a:pPr marL="285750" indent="-285750">
              <a:buClr>
                <a:schemeClr val="dk1"/>
              </a:buClr>
              <a:buSzPts val="1500"/>
              <a:buFont typeface="Arial"/>
              <a:buChar char="•"/>
            </a:pPr>
            <a:r>
              <a:rPr lang="fr" sz="150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Objectif : Permettre aux restaurateurs de concevoir, personnaliser et exporter leurs menus  (PDF, diffusion en ligne).</a:t>
            </a:r>
            <a:endParaRPr lang="fr" sz="1500" dirty="0">
              <a:solidFill>
                <a:schemeClr val="dk1"/>
              </a:solidFill>
              <a:latin typeface="Montserrat"/>
            </a:endParaRPr>
          </a:p>
          <a:p>
            <a:pPr>
              <a:buClr>
                <a:schemeClr val="dk1"/>
              </a:buClr>
              <a:buSzPts val="1500"/>
            </a:pPr>
            <a:endParaRPr lang="fr" sz="1500" dirty="0">
              <a:solidFill>
                <a:schemeClr val="dk1"/>
              </a:solidFill>
              <a:latin typeface="Montserrat"/>
              <a:ea typeface="Montserrat"/>
            </a:endParaRPr>
          </a:p>
          <a:p>
            <a:pPr marL="285750" indent="-285750">
              <a:buClr>
                <a:schemeClr val="dk1"/>
              </a:buClr>
              <a:buSzPts val="1500"/>
              <a:buFont typeface="Arial"/>
              <a:buChar char="•"/>
            </a:pPr>
            <a:r>
              <a:rPr lang="fr" sz="150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Enjeux : Gain de temps, simplicité d’utilisation, respect de l’identité visuelle du client.</a:t>
            </a:r>
            <a:endParaRPr lang="fr">
              <a:solidFill>
                <a:schemeClr val="dk1"/>
              </a:solidFill>
              <a:latin typeface="Montserrat"/>
            </a:endParaRPr>
          </a:p>
          <a:p>
            <a:pPr marL="285750" indent="-285750">
              <a:buClr>
                <a:schemeClr val="dk1"/>
              </a:buClr>
              <a:buSzPts val="1500"/>
              <a:buFont typeface="Arial"/>
              <a:buChar char="•"/>
            </a:pPr>
            <a:endParaRPr dirty="0">
              <a:latin typeface="Montserrat"/>
            </a:endParaRPr>
          </a:p>
          <a:p>
            <a:pPr marL="457200" lvl="0" indent="-323850" algn="l">
              <a:lnSpc>
                <a:spcPct val="114999"/>
              </a:lnSpc>
              <a:spcAft>
                <a:spcPts val="0"/>
              </a:spcAft>
              <a:buSzPts val="1500"/>
              <a:buFont typeface="Arial"/>
              <a:buChar char="•"/>
            </a:pPr>
            <a:endParaRPr lang="fr" sz="1500" i="1" dirty="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43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2020">
                <a:latin typeface="Montserrat"/>
                <a:ea typeface="Montserrat"/>
                <a:cs typeface="Montserrat"/>
                <a:sym typeface="Montserrat"/>
              </a:rPr>
              <a:t>Aperçu de la maquette</a:t>
            </a:r>
            <a:endParaRPr sz="202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endParaRPr sz="182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84585" cy="804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lnSpc>
                <a:spcPct val="150000"/>
              </a:lnSpc>
              <a:buNone/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Lien vers la maquette: </a:t>
            </a: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hlinkClick r:id="rId3"/>
              </a:rPr>
              <a:t>https://www.figma.com/file/Q6NEUPqwz1U3HFaCaVoF7N/Desktop?node-id=0%3A6</a:t>
            </a:r>
            <a:endParaRPr lang="fr" sz="1200">
              <a:solidFill>
                <a:srgbClr val="595959"/>
              </a:solidFill>
              <a:highlight>
                <a:srgbClr val="FFFFFF"/>
              </a:highlight>
              <a:latin typeface="Montserrat"/>
            </a:endParaRPr>
          </a:p>
          <a:p>
            <a:pPr marL="133350" indent="0">
              <a:lnSpc>
                <a:spcPct val="150000"/>
              </a:lnSpc>
              <a:buNone/>
            </a:pPr>
            <a:br>
              <a:rPr lang="fr" sz="1200" dirty="0">
                <a:highlight>
                  <a:srgbClr val="FFFFFF"/>
                </a:highlight>
              </a:rPr>
            </a:br>
            <a:endParaRPr lang="fr" sz="1200">
              <a:highlight>
                <a:srgbClr val="FFFFFF"/>
              </a:highlight>
              <a:latin typeface="Montserrat"/>
            </a:endParaRPr>
          </a:p>
          <a:p>
            <a:pPr marL="133350" indent="0">
              <a:lnSpc>
                <a:spcPct val="150000"/>
              </a:lnSpc>
              <a:buNone/>
            </a:pPr>
            <a:endParaRPr lang="fr" sz="1200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C1F2718-2AC7-327E-7A19-B95BF09DD464}"/>
              </a:ext>
            </a:extLst>
          </p:cNvPr>
          <p:cNvSpPr txBox="1"/>
          <p:nvPr/>
        </p:nvSpPr>
        <p:spPr>
          <a:xfrm>
            <a:off x="308257" y="2486648"/>
            <a:ext cx="8024812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fr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Page d'accueil</a:t>
            </a:r>
            <a:endParaRPr lang="fr-FR">
              <a:latin typeface="Montserrat"/>
            </a:endParaRPr>
          </a:p>
          <a:p>
            <a:pPr marL="285750" indent="-285750">
              <a:buChar char="•"/>
            </a:pPr>
            <a:r>
              <a:rPr lang="fr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Page de connexion</a:t>
            </a:r>
            <a:endParaRPr lang="fr-FR" dirty="0">
              <a:latin typeface="Montserrat"/>
            </a:endParaRPr>
          </a:p>
          <a:p>
            <a:pPr marL="285750" indent="-285750">
              <a:buChar char="•"/>
            </a:pPr>
            <a:r>
              <a:rPr lang="fr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Dashboard pour les utilisateurs</a:t>
            </a:r>
            <a:endParaRPr lang="fr-FR" dirty="0">
              <a:latin typeface="Montserrat"/>
            </a:endParaRPr>
          </a:p>
          <a:p>
            <a:pPr marL="285750" indent="-285750">
              <a:buChar char="•"/>
            </a:pPr>
            <a:r>
              <a:rPr lang="fr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Page de gestion de création des menus</a:t>
            </a:r>
            <a:endParaRPr lang="fr-FR" dirty="0">
              <a:latin typeface="Montserra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005746-63BD-342C-77F7-71FAF45C9066}"/>
              </a:ext>
            </a:extLst>
          </p:cNvPr>
          <p:cNvSpPr txBox="1"/>
          <p:nvPr/>
        </p:nvSpPr>
        <p:spPr>
          <a:xfrm>
            <a:off x="309160" y="2113586"/>
            <a:ext cx="8128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Composition de la maquette: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Méthodologie utilisée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463544"/>
            <a:ext cx="8520600" cy="913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>
              <a:lnSpc>
                <a:spcPct val="160000"/>
              </a:lnSpc>
              <a:buClr>
                <a:srgbClr val="595959"/>
              </a:buClr>
              <a:buSzPts val="1500"/>
              <a:buChar char="•"/>
            </a:pPr>
            <a:r>
              <a:rPr lang="fr" sz="14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Agile : approche itérative favorisant l’adaptation continue et la collaboration avec le client.</a:t>
            </a:r>
            <a:endParaRPr lang="fr" sz="1400" b="1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  <a:p>
            <a:pPr>
              <a:lnSpc>
                <a:spcPct val="114999"/>
              </a:lnSpc>
              <a:buClr>
                <a:srgbClr val="595959"/>
              </a:buClr>
              <a:buSzPts val="1500"/>
              <a:buChar char="•"/>
            </a:pPr>
            <a:r>
              <a:rPr lang="fr" sz="14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Scrum : cadre structurant le projet en cycles courts (sprints) avec revues régulières.</a:t>
            </a:r>
            <a:endParaRPr lang="fr" sz="1400">
              <a:latin typeface="Montserrat"/>
            </a:endParaRPr>
          </a:p>
          <a:p>
            <a:pPr>
              <a:lnSpc>
                <a:spcPct val="114999"/>
              </a:lnSpc>
              <a:buClr>
                <a:srgbClr val="0D0D0D"/>
              </a:buClr>
              <a:buSzPts val="1500"/>
              <a:buFont typeface="Arial"/>
              <a:buChar char="•"/>
            </a:pPr>
            <a:endParaRPr lang="fr" sz="1400" dirty="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2958A57-134A-7B18-5274-570739E32508}"/>
              </a:ext>
            </a:extLst>
          </p:cNvPr>
          <p:cNvSpPr txBox="1"/>
          <p:nvPr/>
        </p:nvSpPr>
        <p:spPr>
          <a:xfrm>
            <a:off x="310064" y="1097886"/>
            <a:ext cx="82946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Définitions rapides :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A73CBD-E671-D9E8-554C-2A80B0B9D4B6}"/>
              </a:ext>
            </a:extLst>
          </p:cNvPr>
          <p:cNvSpPr txBox="1"/>
          <p:nvPr/>
        </p:nvSpPr>
        <p:spPr>
          <a:xfrm>
            <a:off x="313963" y="2386555"/>
            <a:ext cx="85160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Avantages pour Menu Maker :</a:t>
            </a:r>
            <a:endParaRPr lang="fr-FR" dirty="0">
              <a:latin typeface="Montserrat"/>
            </a:endParaRPr>
          </a:p>
        </p:txBody>
      </p:sp>
      <p:pic>
        <p:nvPicPr>
          <p:cNvPr id="5" name="Image 4" descr="Schéma du sprint en scrum et méthode agile">
            <a:extLst>
              <a:ext uri="{FF2B5EF4-FFF2-40B4-BE49-F238E27FC236}">
                <a16:creationId xmlns:a16="http://schemas.microsoft.com/office/drawing/2014/main" id="{64CF87EC-8AB5-7F12-A1AF-9323A7647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250" y="2889251"/>
            <a:ext cx="3587750" cy="157956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C283222-68C2-B3C8-957F-D0EF700AC4AF}"/>
              </a:ext>
            </a:extLst>
          </p:cNvPr>
          <p:cNvSpPr txBox="1"/>
          <p:nvPr/>
        </p:nvSpPr>
        <p:spPr>
          <a:xfrm>
            <a:off x="404812" y="2762250"/>
            <a:ext cx="5570015" cy="25540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fr-FR" sz="1200" dirty="0">
                <a:latin typeface="Montserrat"/>
              </a:rPr>
              <a:t>Collaboration continue avec le client → corrections rapides si besoin.</a:t>
            </a:r>
            <a:endParaRPr lang="fr-FR" sz="120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fr-FR" sz="1200" dirty="0">
                <a:latin typeface="Montserrat"/>
              </a:rPr>
              <a:t>Flexibilité → adaptation facile aux changements ou ajustements de la maquette.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fr-FR" sz="1200" dirty="0">
                <a:latin typeface="Montserrat"/>
              </a:rPr>
              <a:t>Visualisation de l’avancement via le Kanban → meilleure priorisation.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fr-FR" sz="1200" dirty="0">
                <a:latin typeface="Montserrat"/>
              </a:rPr>
              <a:t>Livraison progressive → possibilité de tester les fonctionnalités dès le début.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endParaRPr lang="fr-FR" sz="1200" dirty="0">
              <a:latin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61971929-415C-ED86-4D0D-7E8A168C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>
            <a:extLst>
              <a:ext uri="{FF2B5EF4-FFF2-40B4-BE49-F238E27FC236}">
                <a16:creationId xmlns:a16="http://schemas.microsoft.com/office/drawing/2014/main" id="{6EB80305-5325-A670-8870-85C5F3A8C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Méthodologie utilisée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C8FF616F-175C-0BA8-EBFC-D1DB03A7D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71481"/>
            <a:ext cx="8488850" cy="1945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4999"/>
              </a:lnSpc>
              <a:buClr>
                <a:srgbClr val="595959"/>
              </a:buClr>
              <a:buSzPts val="1500"/>
              <a:buChar char="•"/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Sprint 1 : Base fonctionnelle </a:t>
            </a:r>
            <a:r>
              <a:rPr lang="fr" sz="1200" dirty="0" err="1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front-end</a:t>
            </a: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 (UI, modales, </a:t>
            </a:r>
            <a:r>
              <a:rPr lang="fr" sz="1200" dirty="0" err="1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branding</a:t>
            </a: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)</a:t>
            </a:r>
            <a:endParaRPr lang="fr" sz="1200" b="1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  <a:p>
            <a:pPr>
              <a:lnSpc>
                <a:spcPct val="114999"/>
              </a:lnSpc>
              <a:buClr>
                <a:srgbClr val="595959"/>
              </a:buClr>
              <a:buSzPts val="1500"/>
              <a:buChar char="•"/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Sprint 2 : Export / impression et connexion API</a:t>
            </a:r>
            <a:endParaRPr lang="fr" sz="1200">
              <a:latin typeface="Montserrat"/>
            </a:endParaRPr>
          </a:p>
          <a:p>
            <a:pPr>
              <a:lnSpc>
                <a:spcPct val="150000"/>
              </a:lnSpc>
              <a:buClr>
                <a:srgbClr val="595959"/>
              </a:buClr>
              <a:buSzPts val="1500"/>
              <a:buChar char="•"/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Sprint 3 : Tests et accessibilité</a:t>
            </a:r>
            <a:endParaRPr lang="fr" sz="1200">
              <a:latin typeface="Montserrat"/>
            </a:endParaRPr>
          </a:p>
          <a:p>
            <a:pPr>
              <a:lnSpc>
                <a:spcPct val="114999"/>
              </a:lnSpc>
              <a:buClr>
                <a:srgbClr val="595959"/>
              </a:buClr>
              <a:buSzPts val="1500"/>
              <a:buChar char="•"/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Sprint 4 : </a:t>
            </a:r>
            <a:r>
              <a:rPr lang="fr" sz="1200" err="1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Back-end</a:t>
            </a: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 et intégrations externes</a:t>
            </a:r>
            <a:endParaRPr lang="fr" sz="1200">
              <a:latin typeface="Montserrat"/>
            </a:endParaRPr>
          </a:p>
          <a:p>
            <a:pPr>
              <a:lnSpc>
                <a:spcPct val="114999"/>
              </a:lnSpc>
              <a:buClr>
                <a:srgbClr val="595959"/>
              </a:buClr>
              <a:buSzPts val="1500"/>
              <a:buChar char="•"/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Sprint 5 : DevOps, monitoring et documentation</a:t>
            </a:r>
            <a:endParaRPr lang="fr" sz="1200">
              <a:latin typeface="Montserrat"/>
            </a:endParaRPr>
          </a:p>
          <a:p>
            <a:pPr>
              <a:lnSpc>
                <a:spcPct val="160000"/>
              </a:lnSpc>
              <a:buClr>
                <a:srgbClr val="595959"/>
              </a:buClr>
              <a:buSzPts val="1500"/>
              <a:buFont typeface="Arial"/>
              <a:buChar char="•"/>
            </a:pPr>
            <a:endParaRPr lang="fr" sz="1200" dirty="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</a:endParaRPr>
          </a:p>
        </p:txBody>
      </p:sp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4901D98F-7B70-F31C-3438-0C599CE92687}"/>
              </a:ext>
            </a:extLst>
          </p:cNvPr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7">
            <a:extLst>
              <a:ext uri="{FF2B5EF4-FFF2-40B4-BE49-F238E27FC236}">
                <a16:creationId xmlns:a16="http://schemas.microsoft.com/office/drawing/2014/main" id="{AE39C40F-4FE2-AAF7-9620-C4F42C37374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40E34CF-A84A-39BF-8538-AB5FDA8F33DD}"/>
              </a:ext>
            </a:extLst>
          </p:cNvPr>
          <p:cNvSpPr txBox="1"/>
          <p:nvPr/>
        </p:nvSpPr>
        <p:spPr>
          <a:xfrm>
            <a:off x="310064" y="1097886"/>
            <a:ext cx="82946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Organisation des sprints :</a:t>
            </a:r>
            <a:endParaRPr lang="fr-FR" dirty="0">
              <a:latin typeface="Montserra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8A7B383-1A70-4423-1481-F89036DE2559}"/>
              </a:ext>
            </a:extLst>
          </p:cNvPr>
          <p:cNvSpPr txBox="1"/>
          <p:nvPr/>
        </p:nvSpPr>
        <p:spPr>
          <a:xfrm>
            <a:off x="329837" y="2846931"/>
            <a:ext cx="85160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Durée approximative :</a:t>
            </a:r>
            <a:endParaRPr lang="fr-FR" sz="1800">
              <a:latin typeface="Montserra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BBC2EBD-8782-0B35-8E2D-206437FD1517}"/>
              </a:ext>
            </a:extLst>
          </p:cNvPr>
          <p:cNvSpPr txBox="1"/>
          <p:nvPr/>
        </p:nvSpPr>
        <p:spPr>
          <a:xfrm>
            <a:off x="309563" y="3214688"/>
            <a:ext cx="5570015" cy="337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200" dirty="0">
                <a:latin typeface="Montserrat"/>
              </a:rPr>
              <a:t>Chaque sprint : 1 à 2 semaines (à ajuster selon la charge de travail).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CC88FE3-C8BD-C7A4-6858-E3FF970A4388}"/>
              </a:ext>
            </a:extLst>
          </p:cNvPr>
          <p:cNvSpPr txBox="1"/>
          <p:nvPr/>
        </p:nvSpPr>
        <p:spPr>
          <a:xfrm>
            <a:off x="327025" y="3629025"/>
            <a:ext cx="36004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Objectif de chaque sprint :</a:t>
            </a:r>
            <a:endParaRPr lang="fr-FR" sz="1800">
              <a:latin typeface="Montserra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99BB483-23FB-CD6E-8911-17B9868C4D1A}"/>
              </a:ext>
            </a:extLst>
          </p:cNvPr>
          <p:cNvSpPr txBox="1"/>
          <p:nvPr/>
        </p:nvSpPr>
        <p:spPr>
          <a:xfrm>
            <a:off x="327026" y="4002088"/>
            <a:ext cx="6569074" cy="380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2625"/>
              </a:lnSpc>
              <a:buFont typeface="Arial"/>
              <a:buChar char="•"/>
            </a:pPr>
            <a:r>
              <a:rPr lang="en-US" sz="1200" dirty="0">
                <a:latin typeface="Montserrat"/>
              </a:rPr>
              <a:t>Développement </a:t>
            </a:r>
            <a:r>
              <a:rPr lang="en-US" sz="1200" err="1">
                <a:latin typeface="Montserrat"/>
              </a:rPr>
              <a:t>progressif</a:t>
            </a:r>
            <a:r>
              <a:rPr lang="en-US" sz="1200" dirty="0">
                <a:latin typeface="Montserrat"/>
              </a:rPr>
              <a:t>, livraison de </a:t>
            </a:r>
            <a:r>
              <a:rPr lang="en-US" sz="1200" err="1">
                <a:latin typeface="Montserrat"/>
              </a:rPr>
              <a:t>valeur</a:t>
            </a:r>
            <a:r>
              <a:rPr lang="en-US" sz="1200" dirty="0">
                <a:latin typeface="Montserrat"/>
              </a:rPr>
              <a:t> </a:t>
            </a:r>
            <a:r>
              <a:rPr lang="en-US" sz="1200" err="1">
                <a:latin typeface="Montserrat"/>
              </a:rPr>
              <a:t>utilisateur</a:t>
            </a:r>
            <a:r>
              <a:rPr lang="en-US" sz="1200" dirty="0">
                <a:latin typeface="Montserrat"/>
              </a:rPr>
              <a:t> à </a:t>
            </a:r>
            <a:r>
              <a:rPr lang="en-US" sz="1200" err="1">
                <a:latin typeface="Montserrat"/>
              </a:rPr>
              <a:t>chaque</a:t>
            </a:r>
            <a:r>
              <a:rPr lang="en-US" sz="1200" dirty="0">
                <a:latin typeface="Montserrat"/>
              </a:rPr>
              <a:t> étape.</a:t>
            </a:r>
            <a:endParaRPr lang="fr-FR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68855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Suivi du projet avec le Kanban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307774" y="950588"/>
            <a:ext cx="828875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3350">
              <a:lnSpc>
                <a:spcPct val="150000"/>
              </a:lnSpc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Lien vers le Kanban: </a:t>
            </a: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hlinkClick r:id="rId3"/>
              </a:rPr>
              <a:t>https://www.notion.so/27f90a03b5b0801485b1cc47510a770b?v=27f90a03b5b08098b74b000c49ef16f7&amp;source=copy_link</a:t>
            </a:r>
            <a:endParaRPr lang="fr" sz="1200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  <a:p>
            <a:pPr marL="133350">
              <a:lnSpc>
                <a:spcPct val="150000"/>
              </a:lnSpc>
            </a:pPr>
            <a:endParaRPr lang="fr" sz="1200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5571AA7-3580-1E98-47D1-5640065D950C}"/>
              </a:ext>
            </a:extLst>
          </p:cNvPr>
          <p:cNvSpPr txBox="1"/>
          <p:nvPr/>
        </p:nvSpPr>
        <p:spPr>
          <a:xfrm>
            <a:off x="311150" y="1803400"/>
            <a:ext cx="45608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Pourquoi utiliser un Kanban :​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3785F5A-B15A-02BD-0C02-E11EC7705053}"/>
              </a:ext>
            </a:extLst>
          </p:cNvPr>
          <p:cNvSpPr txBox="1"/>
          <p:nvPr/>
        </p:nvSpPr>
        <p:spPr>
          <a:xfrm>
            <a:off x="-7937" y="2246312"/>
            <a:ext cx="7572373" cy="3110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171450">
              <a:lnSpc>
                <a:spcPct val="150000"/>
              </a:lnSpc>
              <a:buChar char="•"/>
            </a:pPr>
            <a:r>
              <a:rPr lang="fr-FR" sz="1100" b="1" dirty="0">
                <a:solidFill>
                  <a:schemeClr val="tx1"/>
                </a:solidFill>
                <a:latin typeface="Montserrat"/>
              </a:rPr>
              <a:t>Visibilité accrue :</a:t>
            </a:r>
            <a:r>
              <a:rPr lang="fr-FR" sz="1100" dirty="0">
                <a:solidFill>
                  <a:schemeClr val="tx1"/>
                </a:solidFill>
                <a:latin typeface="Montserrat"/>
              </a:rPr>
              <a:t> Le tableau Kanban permet de visualiser en temps réel l’état d’avancement des tâches (à faire, en cours, terminé), offrant une transparence totale à toute l’équipe.</a:t>
            </a:r>
            <a:endParaRPr lang="fr-FR" sz="1100">
              <a:solidFill>
                <a:schemeClr val="tx1"/>
              </a:solidFill>
            </a:endParaRPr>
          </a:p>
          <a:p>
            <a:pPr marL="457200" indent="-171450">
              <a:lnSpc>
                <a:spcPct val="150000"/>
              </a:lnSpc>
              <a:buChar char="•"/>
            </a:pPr>
            <a:r>
              <a:rPr lang="fr-FR" sz="1100" b="1" dirty="0">
                <a:solidFill>
                  <a:schemeClr val="tx1"/>
                </a:solidFill>
                <a:latin typeface="Montserrat"/>
              </a:rPr>
              <a:t>Meilleure coordination :</a:t>
            </a:r>
            <a:r>
              <a:rPr lang="fr-FR" sz="1100" dirty="0">
                <a:solidFill>
                  <a:schemeClr val="tx1"/>
                </a:solidFill>
                <a:latin typeface="Montserrat"/>
              </a:rPr>
              <a:t> Chaque membre voit les responsabilités des autres, ce qui facilite la collaboration, l’anticipation des besoins et l’adaptation entre les rôles.</a:t>
            </a:r>
          </a:p>
          <a:p>
            <a:pPr marL="457200" indent="-171450">
              <a:lnSpc>
                <a:spcPct val="150000"/>
              </a:lnSpc>
              <a:buChar char="•"/>
            </a:pPr>
            <a:r>
              <a:rPr lang="fr-FR" sz="1100" b="1" dirty="0">
                <a:solidFill>
                  <a:schemeClr val="tx1"/>
                </a:solidFill>
                <a:latin typeface="Montserrat"/>
              </a:rPr>
              <a:t>Limitation du travail en cours (WIP) :</a:t>
            </a:r>
            <a:r>
              <a:rPr lang="fr-FR" sz="1100" dirty="0">
                <a:solidFill>
                  <a:schemeClr val="tx1"/>
                </a:solidFill>
                <a:latin typeface="Montserrat"/>
              </a:rPr>
              <a:t> En restreignant le nombre de tâches simultanées, on évite la surcharge et on améliore la concentration et la fluidité du travail.</a:t>
            </a:r>
          </a:p>
          <a:p>
            <a:pPr marL="457200" indent="-171450">
              <a:lnSpc>
                <a:spcPct val="150000"/>
              </a:lnSpc>
              <a:buChar char="•"/>
            </a:pPr>
            <a:r>
              <a:rPr lang="fr-FR" sz="1100" b="1" dirty="0">
                <a:solidFill>
                  <a:schemeClr val="tx1"/>
                </a:solidFill>
                <a:latin typeface="Montserrat"/>
              </a:rPr>
              <a:t>Flexibilité et adaptation :</a:t>
            </a:r>
            <a:r>
              <a:rPr lang="fr-FR" sz="1100" dirty="0">
                <a:solidFill>
                  <a:schemeClr val="tx1"/>
                </a:solidFill>
                <a:latin typeface="Montserrat"/>
              </a:rPr>
              <a:t> Le système s’adapte facilement aux changements de priorité ou aux imprévus, idéal dans des environnements dynamiques.</a:t>
            </a:r>
          </a:p>
          <a:p>
            <a:pPr marL="457200" indent="-171450">
              <a:lnSpc>
                <a:spcPct val="150000"/>
              </a:lnSpc>
              <a:buChar char="•"/>
            </a:pPr>
            <a:r>
              <a:rPr lang="fr-FR" sz="1100" b="1" dirty="0">
                <a:solidFill>
                  <a:schemeClr val="tx1"/>
                </a:solidFill>
                <a:latin typeface="Montserrat"/>
              </a:rPr>
              <a:t>Amélioration continue : </a:t>
            </a:r>
            <a:r>
              <a:rPr lang="fr-FR" sz="1100" dirty="0">
                <a:solidFill>
                  <a:schemeClr val="tx1"/>
                </a:solidFill>
                <a:latin typeface="Montserrat"/>
              </a:rPr>
              <a:t>Les goulots d’étranglement sont facilement identifiables, permettant des ajustements rapides pour optimiser le flux de travail.</a:t>
            </a:r>
          </a:p>
          <a:p>
            <a:pPr marL="457200" indent="-171450" algn="l">
              <a:lnSpc>
                <a:spcPct val="150000"/>
              </a:lnSpc>
              <a:buChar char="•"/>
            </a:pPr>
            <a:endParaRPr lang="fr-FR" sz="1100" dirty="0">
              <a:solidFill>
                <a:schemeClr val="tx1"/>
              </a:solidFill>
              <a:latin typeface="Montserrat"/>
            </a:endParaRPr>
          </a:p>
          <a:p>
            <a:pPr marL="171450" indent="-171450">
              <a:lnSpc>
                <a:spcPct val="150000"/>
              </a:lnSpc>
              <a:buChar char="•"/>
            </a:pPr>
            <a:endParaRPr lang="fr-FR" sz="1100" dirty="0">
              <a:solidFill>
                <a:schemeClr val="tx1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04" name="Google Shape;104;p19"/>
          <p:cNvSpPr txBox="1"/>
          <p:nvPr/>
        </p:nvSpPr>
        <p:spPr>
          <a:xfrm>
            <a:off x="418900" y="942650"/>
            <a:ext cx="8320500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3350">
              <a:lnSpc>
                <a:spcPct val="150000"/>
              </a:lnSpc>
              <a:buClr>
                <a:srgbClr val="0D0D0D"/>
              </a:buClr>
              <a:buSzPts val="1500"/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Lien vers les spécifications techniques:</a:t>
            </a:r>
            <a:r>
              <a:rPr lang="fr" sz="10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 </a:t>
            </a:r>
            <a:r>
              <a:rPr lang="fr" sz="10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hlinkClick r:id="rId3"/>
              </a:rPr>
              <a:t>https://docs.google.com/document/d/1MZENR3KkweLE9pXT8TbILx6mG8GZUGvLbrTfxWGx4cI/edit?usp=sharing</a:t>
            </a:r>
            <a:endParaRPr lang="fr-FR" sz="1000"/>
          </a:p>
        </p:txBody>
      </p:sp>
      <p:sp>
        <p:nvSpPr>
          <p:cNvPr id="105" name="Google Shape;105;p19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64469C7-2336-3E59-5838-87B75CEFAF99}"/>
              </a:ext>
            </a:extLst>
          </p:cNvPr>
          <p:cNvSpPr txBox="1"/>
          <p:nvPr/>
        </p:nvSpPr>
        <p:spPr>
          <a:xfrm>
            <a:off x="311150" y="1636713"/>
            <a:ext cx="7458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>
                <a:latin typeface="Montserrat"/>
              </a:rPr>
              <a:t>Principales spécifications: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49E1FBA-0B5D-EB64-BF71-BC74F8883790}"/>
              </a:ext>
            </a:extLst>
          </p:cNvPr>
          <p:cNvSpPr txBox="1"/>
          <p:nvPr/>
        </p:nvSpPr>
        <p:spPr>
          <a:xfrm>
            <a:off x="412749" y="1960562"/>
            <a:ext cx="7373937" cy="1446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fr-FR" sz="1200" err="1">
                <a:latin typeface="Montserrat"/>
              </a:rPr>
              <a:t>Front-end</a:t>
            </a:r>
            <a:r>
              <a:rPr lang="fr-FR" sz="1200">
                <a:latin typeface="Montserrat"/>
              </a:rPr>
              <a:t> : </a:t>
            </a:r>
            <a:r>
              <a:rPr lang="fr-FR" sz="1200" err="1">
                <a:latin typeface="Montserrat"/>
              </a:rPr>
              <a:t>React</a:t>
            </a:r>
            <a:r>
              <a:rPr lang="fr-FR" sz="1200">
                <a:latin typeface="Montserrat"/>
              </a:rPr>
              <a:t> + SCSS modulaire pour une interface dynamique et réactive.</a:t>
            </a:r>
            <a:endParaRPr lang="fr-FR" sz="1200" dirty="0">
              <a:latin typeface="Montserra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fr-FR" sz="1200" err="1">
                <a:latin typeface="Montserrat"/>
              </a:rPr>
              <a:t>Back-end</a:t>
            </a:r>
            <a:r>
              <a:rPr lang="fr-FR" sz="1200">
                <a:latin typeface="Montserrat"/>
              </a:rPr>
              <a:t> : Node.js / Express avec API REST sécurisée (JWT + bcrypt).</a:t>
            </a:r>
            <a:endParaRPr lang="fr-FR" sz="1200" dirty="0">
              <a:latin typeface="Montserra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fr-FR" sz="1200">
                <a:latin typeface="Montserrat"/>
              </a:rPr>
              <a:t>Base de données : MongoDB avec sauvegardes automatiques et environnement </a:t>
            </a:r>
            <a:r>
              <a:rPr lang="fr-FR" sz="1200" err="1">
                <a:latin typeface="Montserrat"/>
              </a:rPr>
              <a:t>staging</a:t>
            </a:r>
            <a:r>
              <a:rPr lang="fr-FR" sz="1200">
                <a:latin typeface="Montserrat"/>
              </a:rPr>
              <a:t>.</a:t>
            </a:r>
            <a:endParaRPr lang="fr-FR" sz="1200" dirty="0">
              <a:latin typeface="Montserra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fr-FR" sz="1200">
                <a:latin typeface="Montserrat"/>
              </a:rPr>
              <a:t>CI/CD : GitHub Actions pour </a:t>
            </a:r>
            <a:r>
              <a:rPr lang="fr-FR" sz="1200" err="1">
                <a:latin typeface="Montserrat"/>
              </a:rPr>
              <a:t>lint</a:t>
            </a:r>
            <a:r>
              <a:rPr lang="fr-FR" sz="1200">
                <a:latin typeface="Montserrat"/>
              </a:rPr>
              <a:t> → test → </a:t>
            </a:r>
            <a:r>
              <a:rPr lang="fr-FR" sz="1200" err="1">
                <a:latin typeface="Montserrat"/>
              </a:rPr>
              <a:t>build</a:t>
            </a:r>
            <a:r>
              <a:rPr lang="fr-FR" sz="1200">
                <a:latin typeface="Montserrat"/>
              </a:rPr>
              <a:t> → déploiement automatisé.</a:t>
            </a:r>
            <a:endParaRPr lang="fr-FR" sz="1200" dirty="0">
              <a:latin typeface="Montserrat"/>
            </a:endParaRPr>
          </a:p>
          <a:p>
            <a:pPr marL="285750" indent="-285750" algn="l">
              <a:lnSpc>
                <a:spcPct val="150000"/>
              </a:lnSpc>
              <a:buChar char="•"/>
            </a:pPr>
            <a:endParaRPr lang="fr-FR" sz="1200" dirty="0">
              <a:latin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877D96A-0369-D773-2FA1-9459726E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>
            <a:extLst>
              <a:ext uri="{FF2B5EF4-FFF2-40B4-BE49-F238E27FC236}">
                <a16:creationId xmlns:a16="http://schemas.microsoft.com/office/drawing/2014/main" id="{E524990E-EF62-7778-1E11-413211C5FD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>
            <a:extLst>
              <a:ext uri="{FF2B5EF4-FFF2-40B4-BE49-F238E27FC236}">
                <a16:creationId xmlns:a16="http://schemas.microsoft.com/office/drawing/2014/main" id="{4E4E8F06-7DF0-274F-B668-3F78EB269DDB}"/>
              </a:ext>
            </a:extLst>
          </p:cNvPr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F6272FE8-3C2A-DE47-5608-15B1E39C37E4}"/>
              </a:ext>
            </a:extLst>
          </p:cNvPr>
          <p:cNvSpPr txBox="1"/>
          <p:nvPr/>
        </p:nvSpPr>
        <p:spPr>
          <a:xfrm>
            <a:off x="418900" y="942650"/>
            <a:ext cx="8320500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3350">
              <a:lnSpc>
                <a:spcPct val="150000"/>
              </a:lnSpc>
              <a:buClr>
                <a:srgbClr val="0D0D0D"/>
              </a:buClr>
              <a:buSzPts val="1500"/>
            </a:pPr>
            <a:r>
              <a:rPr lang="fr" sz="12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Lien vers les spécifications techniques:</a:t>
            </a:r>
            <a:r>
              <a:rPr lang="fr" sz="10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 </a:t>
            </a:r>
            <a:r>
              <a:rPr lang="fr" sz="10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hlinkClick r:id="rId3"/>
              </a:rPr>
              <a:t>https://docs.google.com/document/d/1MZENR3KkweLE9pXT8TbILx6mG8GZUGvLbrTfxWGx4cI/edit?usp=sharing</a:t>
            </a:r>
            <a:endParaRPr lang="fr-FR" sz="1000"/>
          </a:p>
        </p:txBody>
      </p:sp>
      <p:sp>
        <p:nvSpPr>
          <p:cNvPr id="105" name="Google Shape;105;p19">
            <a:extLst>
              <a:ext uri="{FF2B5EF4-FFF2-40B4-BE49-F238E27FC236}">
                <a16:creationId xmlns:a16="http://schemas.microsoft.com/office/drawing/2014/main" id="{F8D9762C-FF89-3617-A74F-35C68A3F9D76}"/>
              </a:ext>
            </a:extLst>
          </p:cNvPr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19">
            <a:extLst>
              <a:ext uri="{FF2B5EF4-FFF2-40B4-BE49-F238E27FC236}">
                <a16:creationId xmlns:a16="http://schemas.microsoft.com/office/drawing/2014/main" id="{ACEEF7D0-14A4-9A80-4B10-60531E49B28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BBF8347-BB33-693E-61F3-3F7302C717CF}"/>
              </a:ext>
            </a:extLst>
          </p:cNvPr>
          <p:cNvSpPr txBox="1"/>
          <p:nvPr/>
        </p:nvSpPr>
        <p:spPr>
          <a:xfrm>
            <a:off x="311150" y="1636713"/>
            <a:ext cx="7458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Exemple vulgarisé : Authentification sécurisée avec jeton (JWT):</a:t>
            </a:r>
          </a:p>
        </p:txBody>
      </p:sp>
      <p:pic>
        <p:nvPicPr>
          <p:cNvPr id="3" name="Image 2" descr="fonctionnement des JWT">
            <a:extLst>
              <a:ext uri="{FF2B5EF4-FFF2-40B4-BE49-F238E27FC236}">
                <a16:creationId xmlns:a16="http://schemas.microsoft.com/office/drawing/2014/main" id="{160B8CC5-2EBD-B4AC-A7AF-035D109F3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437" y="2222498"/>
            <a:ext cx="6723063" cy="246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2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15" name="Google Shape;115;p20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D3102C3-CD6D-676D-B98B-32A8C498A30F}"/>
              </a:ext>
            </a:extLst>
          </p:cNvPr>
          <p:cNvSpPr txBox="1"/>
          <p:nvPr/>
        </p:nvSpPr>
        <p:spPr>
          <a:xfrm>
            <a:off x="285027" y="1019296"/>
            <a:ext cx="851607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0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cs typeface="Segoe UI"/>
              </a:rPr>
              <a:t>Lien vers la veille technologique : </a:t>
            </a:r>
            <a:r>
              <a:rPr lang="fr-FR" sz="10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hlinkClick r:id="rId4"/>
              </a:rPr>
              <a:t>https://docs.google.com/document/d/1HqYyA4NzA2aFOKZRQHmmaYqunzi571McBV8SN2FjZio/edit?usp=sharing</a:t>
            </a:r>
            <a:endParaRPr lang="fr-FR" sz="1000" dirty="0">
              <a:latin typeface="Montserrat"/>
              <a:cs typeface="Segoe UI"/>
            </a:endParaRPr>
          </a:p>
          <a:p>
            <a:endParaRPr lang="fr-FR" sz="1000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  <a:p>
            <a:r>
              <a:rPr lang="fr-FR" sz="1000" dirty="0">
                <a:latin typeface="Montserrat"/>
                <a:cs typeface="Segoe UI"/>
              </a:rPr>
              <a:t>​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6B37CA-CC10-FAAF-5E6F-3AA8FD216FB8}"/>
              </a:ext>
            </a:extLst>
          </p:cNvPr>
          <p:cNvSpPr txBox="1"/>
          <p:nvPr/>
        </p:nvSpPr>
        <p:spPr>
          <a:xfrm>
            <a:off x="285027" y="1460580"/>
            <a:ext cx="80820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Classification en 3 axes: 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E7A370-08C9-6811-515C-67A78CEC2088}"/>
              </a:ext>
            </a:extLst>
          </p:cNvPr>
          <p:cNvSpPr txBox="1"/>
          <p:nvPr/>
        </p:nvSpPr>
        <p:spPr>
          <a:xfrm>
            <a:off x="314285" y="1831854"/>
            <a:ext cx="65960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fr-FR" sz="1200">
                <a:latin typeface="Montserrat"/>
              </a:rPr>
              <a:t>Cybersécurité &amp; Bonnes pratiques</a:t>
            </a:r>
            <a:endParaRPr lang="fr-FR" sz="1200" dirty="0">
              <a:latin typeface="Montserrat"/>
            </a:endParaRPr>
          </a:p>
          <a:p>
            <a:pPr marL="285750" indent="-285750">
              <a:buChar char="•"/>
            </a:pPr>
            <a:r>
              <a:rPr lang="fr-FR" sz="1200" dirty="0">
                <a:latin typeface="Montserrat"/>
              </a:rPr>
              <a:t>Tendances &amp; Innovation Tech</a:t>
            </a:r>
          </a:p>
          <a:p>
            <a:pPr marL="285750" indent="-285750">
              <a:buChar char="•"/>
            </a:pPr>
            <a:r>
              <a:rPr lang="fr-FR" sz="1200">
                <a:latin typeface="Montserrat"/>
              </a:rPr>
              <a:t>Développement Web (</a:t>
            </a:r>
            <a:r>
              <a:rPr lang="fr-FR" sz="1200" err="1">
                <a:latin typeface="Montserrat"/>
              </a:rPr>
              <a:t>Front-end</a:t>
            </a:r>
            <a:r>
              <a:rPr lang="fr-FR" sz="1200">
                <a:latin typeface="Montserrat"/>
              </a:rPr>
              <a:t> &amp; </a:t>
            </a:r>
            <a:r>
              <a:rPr lang="fr-FR" sz="1200" err="1">
                <a:latin typeface="Montserrat"/>
              </a:rPr>
              <a:t>Back-end</a:t>
            </a:r>
            <a:r>
              <a:rPr lang="fr-FR" sz="1200">
                <a:latin typeface="Montserrat"/>
              </a:rPr>
              <a:t>) </a:t>
            </a:r>
            <a:endParaRPr lang="fr-FR" sz="1200" dirty="0">
              <a:latin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29D79A8-C64A-BBAD-F591-9CADA10E4041}"/>
              </a:ext>
            </a:extLst>
          </p:cNvPr>
          <p:cNvSpPr txBox="1"/>
          <p:nvPr/>
        </p:nvSpPr>
        <p:spPr>
          <a:xfrm>
            <a:off x="313963" y="2683156"/>
            <a:ext cx="53185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Exemple de source pour chaque axes: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3BE9F4-A69F-D803-C668-D3B99A25E64A}"/>
              </a:ext>
            </a:extLst>
          </p:cNvPr>
          <p:cNvSpPr txBox="1"/>
          <p:nvPr/>
        </p:nvSpPr>
        <p:spPr>
          <a:xfrm>
            <a:off x="420687" y="3055234"/>
            <a:ext cx="272929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b="1" dirty="0">
                <a:solidFill>
                  <a:srgbClr val="C8C3BC"/>
                </a:solidFill>
                <a:latin typeface="Montserrat"/>
                <a:hlinkClick r:id="rId5"/>
              </a:rPr>
              <a:t>1. Open Web Application Security Project</a:t>
            </a:r>
            <a:endParaRPr lang="fr-FR" sz="1200" dirty="0">
              <a:latin typeface="Montserrat"/>
              <a:hlinkClick r:id="rId5"/>
            </a:endParaRPr>
          </a:p>
          <a:p>
            <a:r>
              <a:rPr lang="fr-FR" sz="1200" dirty="0">
                <a:solidFill>
                  <a:schemeClr val="tx1"/>
                </a:solidFill>
              </a:rPr>
              <a:t>Cette source a été choisie pour l'axe Cybersécurité &amp; Bonnes pratiques en raison de sa réputation, en effet Open Web Application Security Project est considéré comme un standard de sécurité sur le web.</a:t>
            </a:r>
            <a:endParaRPr lang="fr-FR" dirty="0">
              <a:solidFill>
                <a:schemeClr val="tx1"/>
              </a:solidFill>
            </a:endParaRPr>
          </a:p>
          <a:p>
            <a:pPr marL="228600">
              <a:buAutoNum type="arabicPeriod"/>
            </a:pPr>
            <a:endParaRPr lang="fr-FR" sz="1200" dirty="0">
              <a:latin typeface="Montserra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25E3926-CAE4-C599-5370-F071CBF97A1F}"/>
              </a:ext>
            </a:extLst>
          </p:cNvPr>
          <p:cNvSpPr txBox="1"/>
          <p:nvPr/>
        </p:nvSpPr>
        <p:spPr>
          <a:xfrm>
            <a:off x="3265508" y="3052099"/>
            <a:ext cx="255511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b="1" u="sng" dirty="0">
                <a:solidFill>
                  <a:srgbClr val="0097A7"/>
                </a:solidFill>
                <a:latin typeface="Montserrat"/>
              </a:rPr>
              <a:t>2. </a:t>
            </a:r>
            <a:r>
              <a:rPr lang="fr-FR" sz="1200" b="1" dirty="0">
                <a:solidFill>
                  <a:srgbClr val="C8C3BC"/>
                </a:solidFill>
                <a:latin typeface="Montserrat"/>
                <a:hlinkClick r:id="rId6"/>
              </a:rPr>
              <a:t>OpenAI</a:t>
            </a:r>
            <a:endParaRPr lang="fr-FR" sz="1200">
              <a:latin typeface="Montserrat"/>
            </a:endParaRPr>
          </a:p>
          <a:p>
            <a:r>
              <a:rPr lang="fr-FR" sz="1200" dirty="0"/>
              <a:t>Cette source a été choisie pour l'axe Tendances &amp; Innovation Tech, célèbre pour leur Intelligence artificielle </a:t>
            </a:r>
            <a:r>
              <a:rPr lang="fr-FR" sz="1200" dirty="0" err="1"/>
              <a:t>ChatGPT</a:t>
            </a:r>
            <a:r>
              <a:rPr lang="fr-FR" sz="1200" dirty="0"/>
              <a:t>, aujourd'hui </a:t>
            </a:r>
            <a:r>
              <a:rPr lang="fr-FR" sz="1200" dirty="0" err="1"/>
              <a:t>OpenAI</a:t>
            </a:r>
            <a:r>
              <a:rPr lang="fr-FR" sz="1200" dirty="0"/>
              <a:t> est l'un des pionniers dans ce domaine.</a:t>
            </a:r>
            <a:endParaRPr lang="fr-FR" dirty="0"/>
          </a:p>
          <a:p>
            <a:pPr marL="228600">
              <a:buAutoNum type="arabicPeriod"/>
            </a:pP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431B9C2-C396-A2A8-C4DC-F59DA7092073}"/>
              </a:ext>
            </a:extLst>
          </p:cNvPr>
          <p:cNvSpPr txBox="1"/>
          <p:nvPr/>
        </p:nvSpPr>
        <p:spPr>
          <a:xfrm>
            <a:off x="5884281" y="3052100"/>
            <a:ext cx="29168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b="1" u="sng" dirty="0">
                <a:solidFill>
                  <a:srgbClr val="0097A7"/>
                </a:solidFill>
                <a:latin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</a:t>
            </a:r>
            <a:r>
              <a:rPr lang="fr-FR" sz="1200" b="1" dirty="0">
                <a:solidFill>
                  <a:srgbClr val="C8C3BC"/>
                </a:solidFill>
                <a:latin typeface="Montserrat"/>
                <a:hlinkClick r:id="rId5"/>
              </a:rPr>
              <a:t>Node.js Blog</a:t>
            </a:r>
            <a:endParaRPr lang="fr-FR" sz="1200">
              <a:latin typeface="Montserrat"/>
              <a:hlinkClick r:id="" action="ppaction://noaction"/>
            </a:endParaRPr>
          </a:p>
          <a:p>
            <a:r>
              <a:rPr lang="fr-FR" sz="1200" dirty="0"/>
              <a:t>Cette source a été choisie pour l'axe Développement Web puisqu'il s'agit de la documentation officielle de l'un des </a:t>
            </a:r>
            <a:r>
              <a:rPr lang="fr-FR" sz="1200" dirty="0" err="1"/>
              <a:t>frameworks</a:t>
            </a:r>
            <a:r>
              <a:rPr lang="fr-FR" sz="1200" dirty="0"/>
              <a:t> JavaScript les plus utilisés aujourd'hui.</a:t>
            </a:r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B3643899-1C55-C145-5BDB-36B23F8B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>
            <a:extLst>
              <a:ext uri="{FF2B5EF4-FFF2-40B4-BE49-F238E27FC236}">
                <a16:creationId xmlns:a16="http://schemas.microsoft.com/office/drawing/2014/main" id="{86B1D165-F37B-69E2-AB13-16A4981F63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886A0C4F-8D5A-BAB9-78E5-2969F8FCE1C9}"/>
              </a:ext>
            </a:extLst>
          </p:cNvPr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15" name="Google Shape;115;p20">
            <a:extLst>
              <a:ext uri="{FF2B5EF4-FFF2-40B4-BE49-F238E27FC236}">
                <a16:creationId xmlns:a16="http://schemas.microsoft.com/office/drawing/2014/main" id="{55E87C87-6859-029A-A62E-97354EFE2661}"/>
              </a:ext>
            </a:extLst>
          </p:cNvPr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20">
            <a:extLst>
              <a:ext uri="{FF2B5EF4-FFF2-40B4-BE49-F238E27FC236}">
                <a16:creationId xmlns:a16="http://schemas.microsoft.com/office/drawing/2014/main" id="{353C63D6-3CB7-C7DC-7C2E-BF1B43877C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7F0F252-5482-0BD4-F415-4BC04F64D79B}"/>
              </a:ext>
            </a:extLst>
          </p:cNvPr>
          <p:cNvSpPr txBox="1"/>
          <p:nvPr/>
        </p:nvSpPr>
        <p:spPr>
          <a:xfrm>
            <a:off x="308839" y="1095455"/>
            <a:ext cx="80820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dirty="0">
                <a:latin typeface="Montserrat"/>
              </a:rPr>
              <a:t>Contribution de la veille à l'élaboration des spécifications techniques:</a:t>
            </a:r>
            <a:endParaRPr lang="fr-FR" dirty="0">
              <a:latin typeface="Montserra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CE66399-0D24-C21C-59BC-7660E3AC74F8}"/>
              </a:ext>
            </a:extLst>
          </p:cNvPr>
          <p:cNvSpPr txBox="1"/>
          <p:nvPr/>
        </p:nvSpPr>
        <p:spPr>
          <a:xfrm>
            <a:off x="314285" y="1546104"/>
            <a:ext cx="7905749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fr-FR" sz="1200" b="1" dirty="0">
                <a:solidFill>
                  <a:schemeClr val="tx1"/>
                </a:solidFill>
                <a:latin typeface="Montserrat"/>
              </a:rPr>
              <a:t>Anticipation des évolutions technologiques :</a:t>
            </a:r>
            <a:r>
              <a:rPr lang="fr-FR" sz="1200" dirty="0">
                <a:solidFill>
                  <a:schemeClr val="tx1"/>
                </a:solidFill>
                <a:latin typeface="Montserrat"/>
              </a:rPr>
              <a:t> La veille permet d’identifier les innovations, brevets et tendances émergentes, garantissant que les spécifications intègrent les dernières avancées scientifiques et techniques.</a:t>
            </a:r>
            <a:endParaRPr lang="fr-FR" sz="1200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fr-FR" sz="1200" dirty="0">
              <a:solidFill>
                <a:schemeClr val="tx1"/>
              </a:solidFill>
              <a:latin typeface="Montserrat"/>
            </a:endParaRPr>
          </a:p>
          <a:p>
            <a:pPr marL="285750" indent="-285750">
              <a:buChar char="•"/>
            </a:pPr>
            <a:r>
              <a:rPr lang="fr-FR" sz="1200" b="1" dirty="0">
                <a:solidFill>
                  <a:schemeClr val="tx1"/>
                </a:solidFill>
                <a:latin typeface="Montserrat"/>
              </a:rPr>
              <a:t>Conformité aux normes et réglementations :</a:t>
            </a:r>
            <a:r>
              <a:rPr lang="fr-FR" sz="1200" dirty="0">
                <a:solidFill>
                  <a:schemeClr val="tx1"/>
                </a:solidFill>
                <a:latin typeface="Montserrat"/>
              </a:rPr>
              <a:t> Grâce à la veille réglementaire, les entreprises anticipent les changements de normes (ex. : ESG, ESRS, IFRS) et intègrent ces exigences dès la conception des spécifications.</a:t>
            </a:r>
          </a:p>
          <a:p>
            <a:pPr marL="285750" indent="-285750">
              <a:buChar char="•"/>
            </a:pPr>
            <a:endParaRPr lang="fr-FR" sz="1200" dirty="0">
              <a:solidFill>
                <a:schemeClr val="tx1"/>
              </a:solidFill>
              <a:latin typeface="Montserrat"/>
            </a:endParaRPr>
          </a:p>
          <a:p>
            <a:pPr marL="285750" indent="-285750">
              <a:buChar char="•"/>
            </a:pPr>
            <a:r>
              <a:rPr lang="fr-FR" sz="1200" b="1" dirty="0">
                <a:solidFill>
                  <a:schemeClr val="tx1"/>
                </a:solidFill>
                <a:latin typeface="Montserrat"/>
              </a:rPr>
              <a:t>Analyse de la concurrence :</a:t>
            </a:r>
            <a:r>
              <a:rPr lang="fr-FR" sz="1200" dirty="0">
                <a:solidFill>
                  <a:schemeClr val="tx1"/>
                </a:solidFill>
                <a:latin typeface="Montserrat"/>
              </a:rPr>
              <a:t> Elle permet de surveiller les innovations concurrentes, d’identifier de nouveaux acteurs et de s’ajuster stratégiquement pour maintenir un avantage compétitif.</a:t>
            </a:r>
          </a:p>
          <a:p>
            <a:pPr marL="285750" indent="-285750">
              <a:buChar char="•"/>
            </a:pPr>
            <a:endParaRPr lang="fr-FR" sz="1200" dirty="0">
              <a:solidFill>
                <a:schemeClr val="tx1"/>
              </a:solidFill>
              <a:latin typeface="Montserrat"/>
            </a:endParaRPr>
          </a:p>
          <a:p>
            <a:pPr marL="285750" indent="-285750">
              <a:buChar char="•"/>
            </a:pPr>
            <a:r>
              <a:rPr lang="fr-FR" sz="1200" b="1" dirty="0">
                <a:solidFill>
                  <a:schemeClr val="tx1"/>
                </a:solidFill>
                <a:latin typeface="Montserrat"/>
              </a:rPr>
              <a:t>Collecte et capitalisation d’informations pertinentes :</a:t>
            </a:r>
            <a:r>
              <a:rPr lang="fr-FR" sz="1200" dirty="0">
                <a:solidFill>
                  <a:schemeClr val="tx1"/>
                </a:solidFill>
                <a:latin typeface="Montserrat"/>
              </a:rPr>
              <a:t> En s’appuyant sur des sources variées (brevets, publications scientifiques, web), la veille structure une intelligence collective, évitant la perte de connaissances critiques.</a:t>
            </a:r>
          </a:p>
          <a:p>
            <a:pPr marL="285750" indent="-285750">
              <a:buChar char="•"/>
            </a:pPr>
            <a:endParaRPr lang="fr-FR" sz="1200" dirty="0">
              <a:solidFill>
                <a:schemeClr val="tx1"/>
              </a:solidFill>
              <a:latin typeface="Montserrat"/>
            </a:endParaRPr>
          </a:p>
          <a:p>
            <a:pPr marL="285750" indent="-285750">
              <a:buChar char="•"/>
            </a:pPr>
            <a:r>
              <a:rPr lang="fr-FR" sz="1200" b="1" dirty="0">
                <a:solidFill>
                  <a:schemeClr val="tx1"/>
                </a:solidFill>
                <a:latin typeface="Montserrat"/>
              </a:rPr>
              <a:t>Appui à la prise de décision stratégique :</a:t>
            </a:r>
            <a:r>
              <a:rPr lang="fr-FR" sz="1200" dirty="0">
                <a:solidFill>
                  <a:schemeClr val="tx1"/>
                </a:solidFill>
                <a:latin typeface="Montserrat"/>
              </a:rPr>
              <a:t> Les informations synthétisées par la veille (via rapports, tableaux de bord, etc.) éclairent la conception des spécifications techniques, en les alignant sur les objectifs industriels et commerciaux.</a:t>
            </a:r>
          </a:p>
          <a:p>
            <a:pPr marL="285750" indent="-285750">
              <a:buChar char="•"/>
            </a:pPr>
            <a:endParaRPr lang="fr-FR" sz="1200" dirty="0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4566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24" name="Google Shape;124;p21"/>
          <p:cNvSpPr txBox="1"/>
          <p:nvPr/>
        </p:nvSpPr>
        <p:spPr>
          <a:xfrm>
            <a:off x="434775" y="1085525"/>
            <a:ext cx="83205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rgbClr val="0D0D0D"/>
              </a:buClr>
              <a:buSzPts val="1800"/>
              <a:buChar char="•"/>
            </a:pPr>
            <a:r>
              <a:rPr lang="fr" sz="15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sym typeface="Montserrat"/>
              </a:rPr>
              <a:t>Le projet Menu Maker vise à simplifier la création de menus pour les restaurateurs grâce à une application intuitive et moderne.</a:t>
            </a:r>
            <a:endParaRPr lang="fr-FR" sz="18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</a:endParaRPr>
          </a:p>
          <a:p>
            <a:pPr marL="285750" indent="-285750">
              <a:buClr>
                <a:srgbClr val="0D0D0D"/>
              </a:buClr>
              <a:buSzPts val="1800"/>
              <a:buChar char="•"/>
            </a:pPr>
            <a:endParaRPr lang="fr" sz="1500" dirty="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sym typeface="Montserrat"/>
            </a:endParaRPr>
          </a:p>
          <a:p>
            <a:pPr marL="285750" indent="-285750">
              <a:buSzPts val="1800"/>
              <a:buChar char="•"/>
            </a:pPr>
            <a:r>
              <a:rPr lang="fr" sz="15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sym typeface="Montserrat"/>
              </a:rPr>
              <a:t>La méthodologie Agile / Scrum a permis une organisation efficace du travail, divisée en sprints avec des objectifs clairs et atteignables.</a:t>
            </a:r>
            <a:endParaRPr lang="fr-FR">
              <a:latin typeface="Montserrat"/>
            </a:endParaRPr>
          </a:p>
          <a:p>
            <a:pPr marL="285750" indent="-285750">
              <a:buSzPts val="1800"/>
              <a:buChar char="•"/>
            </a:pPr>
            <a:endParaRPr lang="fr" sz="1500" dirty="0">
              <a:solidFill>
                <a:srgbClr val="0D0D0D"/>
              </a:solidFill>
              <a:highlight>
                <a:srgbClr val="FFFFFF"/>
              </a:highlight>
              <a:latin typeface="Montserrat"/>
              <a:sym typeface="Montserrat"/>
            </a:endParaRPr>
          </a:p>
          <a:p>
            <a:pPr marL="285750" indent="-285750">
              <a:buSzPts val="1800"/>
              <a:buChar char="•"/>
            </a:pPr>
            <a:endParaRPr lang="fr" sz="1500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  <a:p>
            <a:pPr marL="285750" indent="-285750">
              <a:buSzPts val="1800"/>
              <a:buChar char="•"/>
            </a:pPr>
            <a:r>
              <a:rPr lang="fr" sz="15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sym typeface="Montserrat"/>
              </a:rPr>
              <a:t>Le Kanban a facilité le suivi des tâches et la répartition du travail au sein de l’équipe.</a:t>
            </a:r>
            <a:endParaRPr lang="fr">
              <a:latin typeface="Montserrat"/>
              <a:sym typeface="Montserrat"/>
            </a:endParaRPr>
          </a:p>
          <a:p>
            <a:pPr marL="285750" indent="-285750">
              <a:buSzPts val="1800"/>
              <a:buChar char="•"/>
            </a:pPr>
            <a:endParaRPr lang="fr" sz="1500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  <a:p>
            <a:pPr marL="285750" indent="-285750">
              <a:buSzPts val="1800"/>
              <a:buChar char="•"/>
            </a:pPr>
            <a:r>
              <a:rPr lang="fr" sz="15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sym typeface="Montserrat"/>
              </a:rPr>
              <a:t>Les spécifications techniques (comme le système d’authentification via JWT) garantissent la sécurité et la fluidité de l’application.</a:t>
            </a:r>
            <a:endParaRPr lang="fr">
              <a:latin typeface="Montserrat"/>
            </a:endParaRPr>
          </a:p>
          <a:p>
            <a:pPr marL="285750" indent="-285750">
              <a:buSzPts val="1800"/>
              <a:buChar char="•"/>
            </a:pPr>
            <a:endParaRPr lang="fr" sz="1500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  <a:p>
            <a:pPr marL="285750" indent="-285750">
              <a:buSzPts val="1800"/>
              <a:buChar char="•"/>
            </a:pPr>
            <a:r>
              <a:rPr lang="fr" sz="15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</a:rPr>
              <a:t>Cette approche collaborative et itérative a favorisé la réactivité, la qualité du code et une meilleure vision d’ensemble du projet.</a:t>
            </a:r>
            <a:endParaRPr>
              <a:latin typeface="Montserrat"/>
            </a:endParaRPr>
          </a:p>
          <a:p>
            <a:pPr marL="285750" lvl="0" indent="-285750" algn="l">
              <a:spcAft>
                <a:spcPts val="0"/>
              </a:spcAft>
              <a:buClr>
                <a:srgbClr val="0D0D0D"/>
              </a:buClr>
              <a:buSzPts val="1800"/>
              <a:buChar char="•"/>
            </a:pPr>
            <a:endParaRPr lang="fr" sz="1500" dirty="0">
              <a:solidFill>
                <a:srgbClr val="0D0D0D"/>
              </a:solidFill>
              <a:highlight>
                <a:srgbClr val="FFFFFF"/>
              </a:highlight>
              <a:latin typeface="Montserrat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/>
        </p:nvSpPr>
        <p:spPr>
          <a:xfrm>
            <a:off x="2411475" y="2125800"/>
            <a:ext cx="42222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 ?</a:t>
            </a:r>
            <a:endParaRPr sz="3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115175" y="118275"/>
            <a:ext cx="23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13</Slides>
  <Notes>13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Simple Light</vt:lpstr>
      <vt:lpstr>Présentation PowerPoint</vt:lpstr>
      <vt:lpstr>Sommaire</vt:lpstr>
      <vt:lpstr>Contexte du Projet</vt:lpstr>
      <vt:lpstr>Aperçu de la maquette </vt:lpstr>
      <vt:lpstr>Méthodologie utilisée</vt:lpstr>
      <vt:lpstr>Méthodologie utilisée</vt:lpstr>
      <vt:lpstr>Suivi du projet avec le Kanban</vt:lpstr>
      <vt:lpstr>Spécifications techniques</vt:lpstr>
      <vt:lpstr>Spécifications techniques</vt:lpstr>
      <vt:lpstr>Veille Technologique</vt:lpstr>
      <vt:lpstr>Veille Technologique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406</cp:revision>
  <dcterms:modified xsi:type="dcterms:W3CDTF">2025-10-10T13:51:35Z</dcterms:modified>
</cp:coreProperties>
</file>